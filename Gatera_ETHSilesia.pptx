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551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11155680" cy="9144"/>
          </a:xfrm>
          <a:prstGeom prst="rect">
            <a:avLst/>
          </a:prstGeom>
          <a:noFill/>
          <a:ln w="12700">
            <a:solidFill>
              <a:srgbClr val="2432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0" y="64739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 Silesia Hackathon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909" y="91858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8096" y="171907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4BED1"/>
                </a:solidFill>
              </a:rPr>
              <a:t>Compliance decision engine for inbound and outbound treasury transfers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8096" y="2395728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8096" y="242316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LEGAL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10512" y="2395728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810512" y="24231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15184" y="23957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15184" y="24231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INNOVATION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521208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05256" y="5551007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Mateusz Paluch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61488" y="55595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Jakub Kowolik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12280" y="868680"/>
            <a:ext cx="4572000" cy="5440680"/>
          </a:xfrm>
          <a:prstGeom prst="roundRect">
            <a:avLst>
              <a:gd name="adj" fmla="val 1600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150608" y="11704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Problem in one sentence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50608" y="148132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B"/>
                </a:solidFill>
              </a:rPr>
              <a:t>Crypto companies can see transfers, but they still do not know what compliance action to take next.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168896" y="314096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0" y="3054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ED1"/>
                </a:solidFill>
              </a:rPr>
              <a:t>Inbound / outbound review from treasury perspective</a:t>
            </a:r>
            <a:endParaRPr lang="pl-PL" sz="1600" dirty="0">
              <a:solidFill>
                <a:srgbClr val="B4BED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70263" y="3699987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315200" y="36347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ED1"/>
                </a:solidFill>
              </a:rPr>
              <a:t>Travel Rule and self-hosted wallet checks built in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68896" y="4259011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0" y="41925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ED1"/>
                </a:solidFill>
              </a:rPr>
              <a:t>Decision-first output instead of another analytics dashboard</a:t>
            </a:r>
            <a:endParaRPr lang="en-US" sz="1600" dirty="0"/>
          </a:p>
        </p:txBody>
      </p:sp>
      <p:pic>
        <p:nvPicPr>
          <p:cNvPr id="24" name="Obraz 23">
            <a:extLst>
              <a:ext uri="{FF2B5EF4-FFF2-40B4-BE49-F238E27FC236}">
                <a16:creationId xmlns:a16="http://schemas.microsoft.com/office/drawing/2014/main" id="{87C76D5F-6CE9-7AB3-12A2-97DD04244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803892"/>
            <a:ext cx="1504020" cy="1203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166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pain point we solve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993392"/>
            <a:ext cx="2011680" cy="2907792"/>
          </a:xfrm>
          <a:prstGeom prst="roundRect">
            <a:avLst>
              <a:gd name="adj" fmla="val 3636"/>
            </a:avLst>
          </a:prstGeom>
          <a:solidFill>
            <a:srgbClr val="111A2E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97280" y="22128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2615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7FB"/>
                </a:solidFill>
              </a:rPr>
              <a:t>Transfer arrives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3456432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Treasury receives or sends funds to a wallet.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4368" y="3273552"/>
            <a:ext cx="502920" cy="91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0" y="1993392"/>
            <a:ext cx="2011680" cy="2907792"/>
          </a:xfrm>
          <a:prstGeom prst="roundRect">
            <a:avLst>
              <a:gd name="adj" fmla="val 3636"/>
            </a:avLst>
          </a:prstGeom>
          <a:solidFill>
            <a:srgbClr val="111A2E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840480" y="22128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</a:rPr>
              <a:t>02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3840480" y="2615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7FB"/>
                </a:solidFill>
              </a:rPr>
              <a:t>Ops sees raw chain data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840480" y="3456432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History exists, but there is no clear operational answer.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7568" y="3273552"/>
            <a:ext cx="502920" cy="914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0" y="1993392"/>
            <a:ext cx="2011680" cy="2907792"/>
          </a:xfrm>
          <a:prstGeom prst="roundRect">
            <a:avLst>
              <a:gd name="adj" fmla="val 3636"/>
            </a:avLst>
          </a:prstGeom>
          <a:solidFill>
            <a:srgbClr val="111A2E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6583680" y="22128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</a:rPr>
              <a:t>03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83680" y="2615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7FB"/>
                </a:solidFill>
              </a:rPr>
              <a:t>Rules are fragmented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583680" y="3456432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Travel Rule, self-hosted checks and AML signals must be combined fast.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0768" y="3273552"/>
            <a:ext cx="502920" cy="914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144000" y="1993392"/>
            <a:ext cx="2011680" cy="2907792"/>
          </a:xfrm>
          <a:prstGeom prst="roundRect">
            <a:avLst>
              <a:gd name="adj" fmla="val 3636"/>
            </a:avLst>
          </a:prstGeom>
          <a:solidFill>
            <a:srgbClr val="1B16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9326880" y="22128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7171"/>
                </a:solidFill>
              </a:rPr>
              <a:t>04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9326880" y="2615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7FB"/>
                </a:solidFill>
              </a:rPr>
              <a:t>Bad outcome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9326880" y="3456432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Either false positives slow the business, or risky transfers slip through.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13232" y="6053328"/>
            <a:ext cx="8037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Existing tools stop at risk visibility. Our product continues to decisioning.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977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" y="7680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product in one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0372" y="1319022"/>
            <a:ext cx="10972800" cy="5029200"/>
          </a:xfrm>
          <a:prstGeom prst="roundRect">
            <a:avLst>
              <a:gd name="adj" fmla="val 1455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60704" y="210312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0704" y="2156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25786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New transfer case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0704" y="3419856"/>
            <a:ext cx="1783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Inbound or outbound transfer to an analyzed wallet.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7792" y="3282696"/>
            <a:ext cx="256032" cy="64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547872" y="1901952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712464" y="210312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712464" y="2156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12464" y="25786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Fetch wallet history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712464" y="3419856"/>
            <a:ext cx="1783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ETH + ERC-20 history, priced to EUR when possible.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9552" y="3282696"/>
            <a:ext cx="256032" cy="640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199632" y="1901952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6364224" y="210312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6364224" y="2156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364224" y="25786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Label counterparties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364224" y="3419856"/>
            <a:ext cx="1783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CASP, DeFi, bridge, unknown / self-hosted-like.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1312" y="3282696"/>
            <a:ext cx="256032" cy="6400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851392" y="1901952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10233A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9015984" y="210312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0"/>
          <p:cNvSpPr/>
          <p:nvPr/>
        </p:nvSpPr>
        <p:spPr>
          <a:xfrm>
            <a:off x="9015984" y="21305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9015984" y="25786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Run decision engine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9015984" y="3439084"/>
            <a:ext cx="1783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Triggers + heuristics produce one action for ops team</a:t>
            </a:r>
            <a:r>
              <a:rPr lang="pl-PL" sz="1300" dirty="0">
                <a:solidFill>
                  <a:srgbClr val="B4BED1"/>
                </a:solidFill>
              </a:rPr>
              <a:t> and </a:t>
            </a:r>
            <a:r>
              <a:rPr lang="pl-PL" sz="1300" dirty="0" err="1">
                <a:solidFill>
                  <a:srgbClr val="B4BED1"/>
                </a:solidFill>
              </a:rPr>
              <a:t>generates</a:t>
            </a:r>
            <a:r>
              <a:rPr lang="pl-PL" sz="1300" dirty="0">
                <a:solidFill>
                  <a:srgbClr val="B4BED1"/>
                </a:solidFill>
              </a:rPr>
              <a:t> report.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32688" y="56875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7FB"/>
                </a:solidFill>
              </a:rPr>
              <a:t>Core use case: a compliance or treasury operator opens a transfer case and gets the next action immediately.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9377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" y="7589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engine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" y="1335024"/>
            <a:ext cx="5230368" cy="5029200"/>
          </a:xfrm>
          <a:prstGeom prst="roundRect">
            <a:avLst>
              <a:gd name="adj" fmla="val 1455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172200" y="1335024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9264" y="17007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Inputs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9556" y="22768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52144" y="20848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7FB"/>
                </a:solidFill>
              </a:rPr>
              <a:t>Direction: inbound / outbound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7340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52144" y="25420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7FB"/>
                </a:solidFill>
              </a:rPr>
              <a:t>Transfer amount in EUR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9556" y="3175233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52144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7FB"/>
                </a:solidFill>
              </a:rPr>
              <a:t>Wallet verification status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36484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52144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7FB"/>
                </a:solidFill>
              </a:rPr>
              <a:t>Travel Rule information completeness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1148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52144" y="39136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7FB"/>
                </a:solidFill>
              </a:rPr>
              <a:t>Recent Ethereum + ERC-20 transaction history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1355" y="45628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152144" y="43708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7FB"/>
                </a:solidFill>
              </a:rPr>
              <a:t>Counterparty labels for each interaction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9088" y="17007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Triggered heuristics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37376" y="2029968"/>
            <a:ext cx="4864608" cy="411480"/>
          </a:xfrm>
          <a:prstGeom prst="roundRect">
            <a:avLst>
              <a:gd name="adj" fmla="val 15556"/>
            </a:avLst>
          </a:prstGeom>
          <a:solidFill>
            <a:srgbClr val="162B39"/>
          </a:solidFill>
          <a:ln w="12700">
            <a:solidFill>
              <a:srgbClr val="24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620256" y="21442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Missing Travel Rule information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37376" y="2551176"/>
            <a:ext cx="4864608" cy="411480"/>
          </a:xfrm>
          <a:prstGeom prst="roundRect">
            <a:avLst>
              <a:gd name="adj" fmla="val 15556"/>
            </a:avLst>
          </a:prstGeom>
          <a:solidFill>
            <a:srgbClr val="162B39"/>
          </a:solidFill>
          <a:ln w="12700">
            <a:solidFill>
              <a:srgbClr val="24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90403" y="266547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Unknown or self-hosted-like wallet and</a:t>
            </a:r>
            <a:r>
              <a:rPr lang="pl-PL" sz="1400" dirty="0">
                <a:solidFill>
                  <a:srgbClr val="F5F7FB"/>
                </a:solidFill>
              </a:rPr>
              <a:t> </a:t>
            </a:r>
            <a:r>
              <a:rPr lang="en-US" sz="1400" dirty="0">
                <a:solidFill>
                  <a:srgbClr val="F5F7FB"/>
                </a:solidFill>
              </a:rPr>
              <a:t>not verified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37376" y="3072384"/>
            <a:ext cx="4864608" cy="411480"/>
          </a:xfrm>
          <a:prstGeom prst="roundRect">
            <a:avLst>
              <a:gd name="adj" fmla="val 15556"/>
            </a:avLst>
          </a:prstGeom>
          <a:solidFill>
            <a:srgbClr val="162B39"/>
          </a:solidFill>
          <a:ln w="12700">
            <a:solidFill>
              <a:srgbClr val="24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17749" y="318668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Linked transfers split into smaller amounts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37376" y="3593592"/>
            <a:ext cx="4864608" cy="411480"/>
          </a:xfrm>
          <a:prstGeom prst="roundRect">
            <a:avLst>
              <a:gd name="adj" fmla="val 15556"/>
            </a:avLst>
          </a:prstGeom>
          <a:solidFill>
            <a:srgbClr val="131E31"/>
          </a:solidFill>
          <a:ln w="12700">
            <a:solidFill>
              <a:srgbClr val="24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617749" y="37078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Pass-through behavior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37376" y="4114800"/>
            <a:ext cx="4864608" cy="411480"/>
          </a:xfrm>
          <a:prstGeom prst="roundRect">
            <a:avLst>
              <a:gd name="adj" fmla="val 15556"/>
            </a:avLst>
          </a:prstGeom>
          <a:solidFill>
            <a:srgbClr val="131E31"/>
          </a:solidFill>
          <a:ln w="12700">
            <a:solidFill>
              <a:srgbClr val="24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620256" y="42291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High transaction velocity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37376" y="4636008"/>
            <a:ext cx="4864608" cy="411480"/>
          </a:xfrm>
          <a:prstGeom prst="roundRect">
            <a:avLst>
              <a:gd name="adj" fmla="val 15556"/>
            </a:avLst>
          </a:prstGeom>
          <a:solidFill>
            <a:srgbClr val="131E31"/>
          </a:solidFill>
          <a:ln w="12700">
            <a:solidFill>
              <a:srgbClr val="24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620256" y="475030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High exposure to unknown / DeFi / bridge counterparties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37376" y="5157216"/>
            <a:ext cx="4864608" cy="411480"/>
          </a:xfrm>
          <a:prstGeom prst="roundRect">
            <a:avLst>
              <a:gd name="adj" fmla="val 15556"/>
            </a:avLst>
          </a:prstGeom>
          <a:solidFill>
            <a:srgbClr val="131E31"/>
          </a:solidFill>
          <a:ln w="12700">
            <a:solidFill>
              <a:srgbClr val="24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620256" y="527151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Bridge exposure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37376" y="5678424"/>
            <a:ext cx="4864608" cy="411480"/>
          </a:xfrm>
          <a:prstGeom prst="roundRect">
            <a:avLst>
              <a:gd name="adj" fmla="val 15556"/>
            </a:avLst>
          </a:prstGeom>
          <a:solidFill>
            <a:srgbClr val="131E31"/>
          </a:solidFill>
          <a:ln w="12700">
            <a:solidFill>
              <a:srgbClr val="2432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620256" y="579272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Unclear source of funds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9377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" y="7498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engine: one action, not another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" y="1335024"/>
            <a:ext cx="7315200" cy="5029200"/>
          </a:xfrm>
          <a:prstGeom prst="roundRect">
            <a:avLst>
              <a:gd name="adj" fmla="val 1455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47888" y="1335024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32688" y="1737360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78992" y="192024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78992" y="1965191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Allow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44368" y="1973395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No relevant signal was triggered.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8304" y="2578608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78992" y="2761488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78992" y="2810199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AllowWithMonitoring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4368" y="281319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Weak signal exists, but no immediate escalation is needed.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3419856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78992" y="3602736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78992" y="3636919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VerifyOwnership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44368" y="3675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Unknown or self-hosted-like wallet above threshold needs ownership check.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2688" y="4261104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078992" y="4443984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78992" y="449167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ManualReview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44368" y="45171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Strong behavioral signal was triggered and needs analyst review.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2688" y="5102352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078992" y="5285232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78992" y="53309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Hold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44368" y="53400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B"/>
                </a:solidFill>
              </a:rPr>
              <a:t>Transfer cannot be processed automatically.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40496" y="1737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40496" y="2006680"/>
            <a:ext cx="2743200" cy="1244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We are building an operational decision layer for crypto companies.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40496" y="4736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Output format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40496" y="506577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ED1"/>
                </a:solidFill>
              </a:rPr>
              <a:t>Decision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4BED1"/>
                </a:solidFill>
              </a:rPr>
              <a:t>Triggered heuristics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4BED1"/>
                </a:solidFill>
              </a:rPr>
              <a:t>Short reason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4BED1"/>
                </a:solidFill>
              </a:rPr>
              <a:t>Score per triggered signal</a:t>
            </a:r>
            <a:endParaRPr lang="pl-PL" sz="1500" dirty="0">
              <a:solidFill>
                <a:srgbClr val="B4BED1"/>
              </a:solidFill>
            </a:endParaRPr>
          </a:p>
          <a:p>
            <a:pPr marL="0" indent="0">
              <a:buNone/>
            </a:pPr>
            <a:r>
              <a:rPr lang="pl-PL" sz="1500" dirty="0">
                <a:solidFill>
                  <a:srgbClr val="B4BED1"/>
                </a:solidFill>
              </a:rPr>
              <a:t>Raport from the </a:t>
            </a:r>
            <a:r>
              <a:rPr lang="pl-PL" sz="1500" dirty="0" err="1">
                <a:solidFill>
                  <a:srgbClr val="B4BED1"/>
                </a:solidFill>
              </a:rPr>
              <a:t>action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9377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" y="7406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stand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" y="1216152"/>
            <a:ext cx="10972800" cy="5029200"/>
          </a:xfrm>
          <a:prstGeom prst="roundRect">
            <a:avLst>
              <a:gd name="adj" fmla="val 1455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ED1"/>
                </a:solidFill>
              </a:rPr>
              <a:t>What others show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5376" y="2715768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7FB"/>
                </a:solidFill>
              </a:rPr>
              <a:t>wallet risk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5F7FB"/>
                </a:solidFill>
              </a:rPr>
              <a:t>transaction history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5F7FB"/>
                </a:solidFill>
              </a:rPr>
              <a:t>cluster exposure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5F7FB"/>
                </a:solidFill>
              </a:rPr>
              <a:t>raw monitoring alerts</a:t>
            </a: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6120" y="3401568"/>
            <a:ext cx="640080" cy="91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78224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What we show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8536" y="31775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F7FB"/>
                </a:solidFill>
              </a:rPr>
              <a:t>what the company should do next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923544" y="2974467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087368" y="340156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923544" y="325069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923544" y="3504819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8549640" y="182880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10233A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755380" y="2487168"/>
            <a:ext cx="23712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F7FB"/>
                </a:solidFill>
              </a:rPr>
              <a:t>Others show risky wallets.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5F7FB"/>
                </a:solidFill>
              </a:rPr>
              <a:t>We show the next compliance action.</a:t>
            </a:r>
            <a:endParaRPr lang="en-US" sz="24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3358C62E-1E6F-DD39-7173-7919FA6CC2F3}"/>
              </a:ext>
            </a:extLst>
          </p:cNvPr>
          <p:cNvSpPr/>
          <p:nvPr/>
        </p:nvSpPr>
        <p:spPr>
          <a:xfrm>
            <a:off x="923544" y="377647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9377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" y="7680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7804" y="1234440"/>
            <a:ext cx="10972800" cy="5029200"/>
          </a:xfrm>
          <a:prstGeom prst="roundRect">
            <a:avLst>
              <a:gd name="adj" fmla="val 1455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914400" y="1993392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8992" y="217627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8992" y="22219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26517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Enter a real transfer case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342900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Direction, amount, wallet, and verification status.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9504" y="3282696"/>
            <a:ext cx="219456" cy="548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85032" y="2230623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</a:rPr>
              <a:t>2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5544" y="3282696"/>
            <a:ext cx="219456" cy="5486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520440" y="1993392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3714750" y="217627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3714750" y="22219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0B1020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714750" y="264577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Trigger heuristics live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685032" y="333756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Only the relevant signals appear.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089904" y="1993392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10233A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6323076" y="217627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0"/>
          <p:cNvSpPr/>
          <p:nvPr/>
        </p:nvSpPr>
        <p:spPr>
          <a:xfrm>
            <a:off x="6323076" y="2219827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0B1020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204204" y="26069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</a:rPr>
              <a:t>Reveal the final action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236208" y="335678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ED1"/>
                </a:solidFill>
              </a:rPr>
              <a:t>One decision the ops team can execute immediately.</a:t>
            </a:r>
            <a:endParaRPr lang="en-US" sz="13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1A8BDA2-BE7E-F88B-6740-9514923BC646}"/>
              </a:ext>
            </a:extLst>
          </p:cNvPr>
          <p:cNvSpPr/>
          <p:nvPr/>
        </p:nvSpPr>
        <p:spPr>
          <a:xfrm>
            <a:off x="8659368" y="196596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10233A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BB9CB2DC-9E44-96CB-F2EF-BA27216868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4914" y="3282696"/>
            <a:ext cx="219456" cy="54864"/>
          </a:xfrm>
          <a:prstGeom prst="rect">
            <a:avLst/>
          </a:prstGeom>
        </p:spPr>
      </p:pic>
      <p:sp>
        <p:nvSpPr>
          <p:cNvPr id="31" name="Shape 19">
            <a:extLst>
              <a:ext uri="{FF2B5EF4-FFF2-40B4-BE49-F238E27FC236}">
                <a16:creationId xmlns:a16="http://schemas.microsoft.com/office/drawing/2014/main" id="{6DCAB971-C6C9-4F39-6443-295CBC3A0782}"/>
              </a:ext>
            </a:extLst>
          </p:cNvPr>
          <p:cNvSpPr/>
          <p:nvPr/>
        </p:nvSpPr>
        <p:spPr>
          <a:xfrm>
            <a:off x="8875776" y="2173224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E4A1ADFF-2F5D-DF7C-1C2F-3EDD66ADE9E6}"/>
              </a:ext>
            </a:extLst>
          </p:cNvPr>
          <p:cNvSpPr/>
          <p:nvPr/>
        </p:nvSpPr>
        <p:spPr>
          <a:xfrm>
            <a:off x="8875776" y="2218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b="1" dirty="0">
                <a:solidFill>
                  <a:srgbClr val="0B1020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A8FA6CF2-F893-549D-3E14-B992CA402D68}"/>
              </a:ext>
            </a:extLst>
          </p:cNvPr>
          <p:cNvSpPr/>
          <p:nvPr/>
        </p:nvSpPr>
        <p:spPr>
          <a:xfrm>
            <a:off x="8796528" y="24564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800" b="1" dirty="0" err="1">
                <a:solidFill>
                  <a:srgbClr val="F5F7FB"/>
                </a:solidFill>
              </a:rPr>
              <a:t>Generate</a:t>
            </a:r>
            <a:r>
              <a:rPr lang="pl-PL" sz="1800" b="1" dirty="0">
                <a:solidFill>
                  <a:srgbClr val="F5F7FB"/>
                </a:solidFill>
              </a:rPr>
              <a:t> report</a:t>
            </a:r>
            <a:endParaRPr lang="en-US" sz="18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C30B47AB-B310-6A69-7AB0-FF6CEE4F7786}"/>
              </a:ext>
            </a:extLst>
          </p:cNvPr>
          <p:cNvSpPr/>
          <p:nvPr/>
        </p:nvSpPr>
        <p:spPr>
          <a:xfrm>
            <a:off x="8814816" y="3423463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300" dirty="0">
                <a:solidFill>
                  <a:srgbClr val="B4BED1"/>
                </a:solidFill>
              </a:rPr>
              <a:t>Report </a:t>
            </a:r>
            <a:r>
              <a:rPr lang="pl-PL" sz="1300" dirty="0" err="1">
                <a:solidFill>
                  <a:srgbClr val="B4BED1"/>
                </a:solidFill>
              </a:rPr>
              <a:t>that</a:t>
            </a:r>
            <a:r>
              <a:rPr lang="pl-PL" sz="1300" dirty="0">
                <a:solidFill>
                  <a:srgbClr val="B4BED1"/>
                </a:solidFill>
              </a:rPr>
              <a:t> </a:t>
            </a:r>
            <a:r>
              <a:rPr lang="pl-PL" sz="1300" dirty="0" err="1">
                <a:solidFill>
                  <a:srgbClr val="B4BED1"/>
                </a:solidFill>
              </a:rPr>
              <a:t>explains</a:t>
            </a:r>
            <a:r>
              <a:rPr lang="pl-PL" sz="1300" dirty="0">
                <a:solidFill>
                  <a:srgbClr val="B4BED1"/>
                </a:solidFill>
              </a:rPr>
              <a:t> </a:t>
            </a:r>
            <a:r>
              <a:rPr lang="pl-PL" sz="1300" dirty="0" err="1">
                <a:solidFill>
                  <a:srgbClr val="B4BED1"/>
                </a:solidFill>
              </a:rPr>
              <a:t>complicated</a:t>
            </a:r>
            <a:r>
              <a:rPr lang="pl-PL" sz="1300" dirty="0">
                <a:solidFill>
                  <a:srgbClr val="B4BED1"/>
                </a:solidFill>
              </a:rPr>
              <a:t> </a:t>
            </a:r>
            <a:r>
              <a:rPr lang="pl-PL" sz="1300" dirty="0" err="1">
                <a:solidFill>
                  <a:srgbClr val="B4BED1"/>
                </a:solidFill>
              </a:rPr>
              <a:t>regulations</a:t>
            </a:r>
            <a:r>
              <a:rPr lang="pl-PL" sz="1300" dirty="0">
                <a:solidFill>
                  <a:srgbClr val="B4BED1"/>
                </a:solidFill>
              </a:rPr>
              <a:t> </a:t>
            </a:r>
            <a:r>
              <a:rPr lang="pl-PL" sz="1300" dirty="0" err="1">
                <a:solidFill>
                  <a:srgbClr val="B4BED1"/>
                </a:solidFill>
              </a:rPr>
              <a:t>through</a:t>
            </a:r>
            <a:r>
              <a:rPr lang="pl-PL" sz="1300" dirty="0">
                <a:solidFill>
                  <a:srgbClr val="B4BED1"/>
                </a:solidFill>
              </a:rPr>
              <a:t> </a:t>
            </a:r>
            <a:r>
              <a:rPr lang="pl-PL" sz="1300" dirty="0" err="1">
                <a:solidFill>
                  <a:srgbClr val="B4BED1"/>
                </a:solidFill>
              </a:rPr>
              <a:t>simple</a:t>
            </a:r>
            <a:r>
              <a:rPr lang="pl-PL" sz="1300" dirty="0">
                <a:solidFill>
                  <a:srgbClr val="B4BED1"/>
                </a:solidFill>
              </a:rPr>
              <a:t> </a:t>
            </a:r>
            <a:r>
              <a:rPr lang="pl-PL" sz="1300" dirty="0" err="1">
                <a:solidFill>
                  <a:srgbClr val="B4BED1"/>
                </a:solidFill>
              </a:rPr>
              <a:t>words</a:t>
            </a:r>
            <a:r>
              <a:rPr lang="pl-PL" sz="1300" dirty="0">
                <a:solidFill>
                  <a:srgbClr val="B4BED1"/>
                </a:solidFill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2743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4BED1"/>
                </a:solidFill>
              </a:rPr>
              <a:t>Gatera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" y="3127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5F7FB"/>
                </a:solidFill>
              </a:rPr>
              <a:t>Mateusz Paluch &amp; Jakub Kowolik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227570" y="1161288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0F1730"/>
          </a:solidFill>
          <a:ln w="12700">
            <a:solidFill>
              <a:srgbClr val="24324D"/>
            </a:solidFill>
            <a:prstDash val="solid"/>
          </a:ln>
          <a:effectLst>
            <a:outerShdw blurRad="1524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96250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499</Words>
  <Application>Microsoft Office PowerPoint</Application>
  <PresentationFormat>Panoramiczny</PresentationFormat>
  <Paragraphs>120</Paragraphs>
  <Slides>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Transfer Screening</dc:title>
  <dc:subject>ETH Silesia hackathon presentation</dc:subject>
  <dc:creator>OpenAI</dc:creator>
  <cp:lastModifiedBy>Mateusz Paluch</cp:lastModifiedBy>
  <cp:revision>3</cp:revision>
  <dcterms:created xsi:type="dcterms:W3CDTF">2026-04-18T17:29:51Z</dcterms:created>
  <dcterms:modified xsi:type="dcterms:W3CDTF">2026-04-18T18:18:12Z</dcterms:modified>
</cp:coreProperties>
</file>